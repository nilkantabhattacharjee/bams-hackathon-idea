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A01DC0-61B0-4E10-B9DB-FA4488EE1EED}" v="2" dt="2026-10-23T16:27:57.5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0" d="100"/>
          <a:sy n="70" d="100"/>
        </p:scale>
        <p:origin x="512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ttacharjee, Nilkanta" userId="239a166d-b74f-4b0c-8bd3-7173ca1cabf1" providerId="ADAL" clId="{7989A3CB-D7C8-4064-8AF6-B271BF65BF66}"/>
    <pc:docChg chg="undo custSel addSld delSld modSld">
      <pc:chgData name="Bhattacharjee, Nilkanta" userId="239a166d-b74f-4b0c-8bd3-7173ca1cabf1" providerId="ADAL" clId="{7989A3CB-D7C8-4064-8AF6-B271BF65BF66}" dt="2026-10-23T16:27:57.557" v="429"/>
      <pc:docMkLst>
        <pc:docMk/>
      </pc:docMkLst>
      <pc:sldChg chg="modSp mod">
        <pc:chgData name="Bhattacharjee, Nilkanta" userId="239a166d-b74f-4b0c-8bd3-7173ca1cabf1" providerId="ADAL" clId="{7989A3CB-D7C8-4064-8AF6-B271BF65BF66}" dt="2026-10-23T16:27:57.557" v="429"/>
        <pc:sldMkLst>
          <pc:docMk/>
          <pc:sldMk cId="0" sldId="256"/>
        </pc:sldMkLst>
        <pc:spChg chg="mod">
          <ac:chgData name="Bhattacharjee, Nilkanta" userId="239a166d-b74f-4b0c-8bd3-7173ca1cabf1" providerId="ADAL" clId="{7989A3CB-D7C8-4064-8AF6-B271BF65BF66}" dt="2026-10-23T09:04:16.711" v="178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Bhattacharjee, Nilkanta" userId="239a166d-b74f-4b0c-8bd3-7173ca1cabf1" providerId="ADAL" clId="{7989A3CB-D7C8-4064-8AF6-B271BF65BF66}" dt="2026-10-23T16:27:57.557" v="429"/>
          <ac:spMkLst>
            <pc:docMk/>
            <pc:sldMk cId="0" sldId="256"/>
            <ac:spMk id="3" creationId="{00000000-0000-0000-0000-000000000000}"/>
          </ac:spMkLst>
        </pc:spChg>
      </pc:sldChg>
      <pc:sldChg chg="delSp modSp mod">
        <pc:chgData name="Bhattacharjee, Nilkanta" userId="239a166d-b74f-4b0c-8bd3-7173ca1cabf1" providerId="ADAL" clId="{7989A3CB-D7C8-4064-8AF6-B271BF65BF66}" dt="2026-10-23T08:52:05.027" v="130"/>
        <pc:sldMkLst>
          <pc:docMk/>
          <pc:sldMk cId="0" sldId="257"/>
        </pc:sldMkLst>
        <pc:spChg chg="mod">
          <ac:chgData name="Bhattacharjee, Nilkanta" userId="239a166d-b74f-4b0c-8bd3-7173ca1cabf1" providerId="ADAL" clId="{7989A3CB-D7C8-4064-8AF6-B271BF65BF66}" dt="2026-10-23T08:48:13.557" v="118" actId="20577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Bhattacharjee, Nilkanta" userId="239a166d-b74f-4b0c-8bd3-7173ca1cabf1" providerId="ADAL" clId="{7989A3CB-D7C8-4064-8AF6-B271BF65BF66}" dt="2026-10-23T08:52:05.027" v="130"/>
          <ac:spMkLst>
            <pc:docMk/>
            <pc:sldMk cId="0" sldId="257"/>
            <ac:spMk id="4" creationId="{00000000-0000-0000-0000-000000000000}"/>
          </ac:spMkLst>
        </pc:spChg>
        <pc:picChg chg="mod">
          <ac:chgData name="Bhattacharjee, Nilkanta" userId="239a166d-b74f-4b0c-8bd3-7173ca1cabf1" providerId="ADAL" clId="{7989A3CB-D7C8-4064-8AF6-B271BF65BF66}" dt="2026-10-23T08:51:49.285" v="127" actId="1076"/>
          <ac:picMkLst>
            <pc:docMk/>
            <pc:sldMk cId="0" sldId="257"/>
            <ac:picMk id="3" creationId="{00000000-0000-0000-0000-000000000000}"/>
          </ac:picMkLst>
        </pc:picChg>
      </pc:sldChg>
      <pc:sldChg chg="modSp mod">
        <pc:chgData name="Bhattacharjee, Nilkanta" userId="239a166d-b74f-4b0c-8bd3-7173ca1cabf1" providerId="ADAL" clId="{7989A3CB-D7C8-4064-8AF6-B271BF65BF66}" dt="2026-10-23T08:47:48.896" v="45" actId="20577"/>
        <pc:sldMkLst>
          <pc:docMk/>
          <pc:sldMk cId="0" sldId="258"/>
        </pc:sldMkLst>
        <pc:spChg chg="mod">
          <ac:chgData name="Bhattacharjee, Nilkanta" userId="239a166d-b74f-4b0c-8bd3-7173ca1cabf1" providerId="ADAL" clId="{7989A3CB-D7C8-4064-8AF6-B271BF65BF66}" dt="2026-10-23T08:47:48.896" v="45" actId="20577"/>
          <ac:spMkLst>
            <pc:docMk/>
            <pc:sldMk cId="0" sldId="258"/>
            <ac:spMk id="2" creationId="{00000000-0000-0000-0000-000000000000}"/>
          </ac:spMkLst>
        </pc:spChg>
      </pc:sldChg>
      <pc:sldChg chg="modSp mod">
        <pc:chgData name="Bhattacharjee, Nilkanta" userId="239a166d-b74f-4b0c-8bd3-7173ca1cabf1" providerId="ADAL" clId="{7989A3CB-D7C8-4064-8AF6-B271BF65BF66}" dt="2026-10-23T08:47:56.122" v="79" actId="20577"/>
        <pc:sldMkLst>
          <pc:docMk/>
          <pc:sldMk cId="0" sldId="259"/>
        </pc:sldMkLst>
        <pc:spChg chg="mod">
          <ac:chgData name="Bhattacharjee, Nilkanta" userId="239a166d-b74f-4b0c-8bd3-7173ca1cabf1" providerId="ADAL" clId="{7989A3CB-D7C8-4064-8AF6-B271BF65BF66}" dt="2026-10-23T08:47:56.122" v="79" actId="20577"/>
          <ac:spMkLst>
            <pc:docMk/>
            <pc:sldMk cId="0" sldId="259"/>
            <ac:spMk id="2" creationId="{00000000-0000-0000-0000-000000000000}"/>
          </ac:spMkLst>
        </pc:spChg>
      </pc:sldChg>
      <pc:sldChg chg="modSp mod">
        <pc:chgData name="Bhattacharjee, Nilkanta" userId="239a166d-b74f-4b0c-8bd3-7173ca1cabf1" providerId="ADAL" clId="{7989A3CB-D7C8-4064-8AF6-B271BF65BF66}" dt="2026-10-23T16:21:17.163" v="412" actId="20577"/>
        <pc:sldMkLst>
          <pc:docMk/>
          <pc:sldMk cId="0" sldId="260"/>
        </pc:sldMkLst>
        <pc:spChg chg="mod">
          <ac:chgData name="Bhattacharjee, Nilkanta" userId="239a166d-b74f-4b0c-8bd3-7173ca1cabf1" providerId="ADAL" clId="{7989A3CB-D7C8-4064-8AF6-B271BF65BF66}" dt="2026-10-23T08:48:04.634" v="112" actId="20577"/>
          <ac:spMkLst>
            <pc:docMk/>
            <pc:sldMk cId="0" sldId="260"/>
            <ac:spMk id="2" creationId="{00000000-0000-0000-0000-000000000000}"/>
          </ac:spMkLst>
        </pc:spChg>
        <pc:graphicFrameChg chg="modGraphic">
          <ac:chgData name="Bhattacharjee, Nilkanta" userId="239a166d-b74f-4b0c-8bd3-7173ca1cabf1" providerId="ADAL" clId="{7989A3CB-D7C8-4064-8AF6-B271BF65BF66}" dt="2026-10-23T16:21:17.163" v="412" actId="20577"/>
          <ac:graphicFrameMkLst>
            <pc:docMk/>
            <pc:sldMk cId="0" sldId="260"/>
            <ac:graphicFrameMk id="3" creationId="{00000000-0000-0000-0000-000000000000}"/>
          </ac:graphicFrameMkLst>
        </pc:graphicFrameChg>
      </pc:sldChg>
      <pc:sldChg chg="addSp modSp new mod">
        <pc:chgData name="Bhattacharjee, Nilkanta" userId="239a166d-b74f-4b0c-8bd3-7173ca1cabf1" providerId="ADAL" clId="{7989A3CB-D7C8-4064-8AF6-B271BF65BF66}" dt="2026-10-23T08:51:31.327" v="126" actId="14100"/>
        <pc:sldMkLst>
          <pc:docMk/>
          <pc:sldMk cId="1733591208" sldId="261"/>
        </pc:sldMkLst>
        <pc:picChg chg="add mod">
          <ac:chgData name="Bhattacharjee, Nilkanta" userId="239a166d-b74f-4b0c-8bd3-7173ca1cabf1" providerId="ADAL" clId="{7989A3CB-D7C8-4064-8AF6-B271BF65BF66}" dt="2026-10-23T08:51:31.327" v="126" actId="14100"/>
          <ac:picMkLst>
            <pc:docMk/>
            <pc:sldMk cId="1733591208" sldId="261"/>
            <ac:picMk id="4" creationId="{9710AD0B-D719-C9B0-4FDE-916B8F6E1FC5}"/>
          </ac:picMkLst>
        </pc:picChg>
      </pc:sldChg>
      <pc:sldChg chg="new del">
        <pc:chgData name="Bhattacharjee, Nilkanta" userId="239a166d-b74f-4b0c-8bd3-7173ca1cabf1" providerId="ADAL" clId="{7989A3CB-D7C8-4064-8AF6-B271BF65BF66}" dt="2026-10-23T08:50:34.250" v="120" actId="2696"/>
        <pc:sldMkLst>
          <pc:docMk/>
          <pc:sldMk cId="2421605111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ilkantaBhattacharjee/bams-hackathon-idea" TargetMode="Externa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000" b="1" dirty="0">
                <a:solidFill>
                  <a:srgbClr val="0070C0"/>
                </a:solidFill>
              </a:rPr>
              <a:t>                BAMS Hackathon</a:t>
            </a:r>
            <a:br>
              <a:rPr lang="en-US" sz="3000" b="1" dirty="0">
                <a:solidFill>
                  <a:srgbClr val="6C5CE7"/>
                </a:solidFill>
              </a:rPr>
            </a:br>
            <a:r>
              <a:rPr lang="en-US" sz="3000" b="1" dirty="0">
                <a:solidFill>
                  <a:srgbClr val="6C5CE7"/>
                </a:solidFill>
              </a:rPr>
              <a:t>             </a:t>
            </a:r>
            <a:r>
              <a:rPr sz="3000" b="1" dirty="0" err="1">
                <a:solidFill>
                  <a:srgbClr val="6C5CE7"/>
                </a:solidFill>
              </a:rPr>
              <a:t>CaseLens</a:t>
            </a:r>
            <a:r>
              <a:rPr sz="3000" b="1" dirty="0">
                <a:solidFill>
                  <a:srgbClr val="6C5CE7"/>
                </a:solidFill>
              </a:rPr>
              <a:t>: Persona, Pain and Success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D3436"/>
                </a:solidFill>
              </a:defRPr>
            </a:pPr>
            <a:r>
              <a:rPr dirty="0"/>
              <a:t>Persona</a:t>
            </a:r>
          </a:p>
          <a:p>
            <a:pPr>
              <a:spcAft>
                <a:spcPts val="600"/>
              </a:spcAft>
              <a:defRPr sz="1600" b="0">
                <a:solidFill>
                  <a:srgbClr val="636E72"/>
                </a:solidFill>
              </a:defRPr>
            </a:pPr>
            <a:r>
              <a:rPr dirty="0"/>
              <a:t>-</a:t>
            </a:r>
            <a:r>
              <a:rPr lang="en-US" dirty="0"/>
              <a:t>  Associate </a:t>
            </a:r>
            <a:r>
              <a:rPr dirty="0"/>
              <a:t>in retail banking</a:t>
            </a:r>
            <a:r>
              <a:rPr lang="en-US" dirty="0"/>
              <a:t> / financial</a:t>
            </a:r>
            <a:r>
              <a:rPr dirty="0"/>
              <a:t> operations</a:t>
            </a:r>
            <a:r>
              <a:rPr lang="en-US" dirty="0"/>
              <a:t>, Case Managers, Auditors.</a:t>
            </a:r>
            <a:endParaRPr dirty="0"/>
          </a:p>
          <a:p>
            <a:pPr>
              <a:spcAft>
                <a:spcPts val="600"/>
              </a:spcAft>
              <a:defRPr sz="1800" b="1">
                <a:solidFill>
                  <a:srgbClr val="2D3436"/>
                </a:solidFill>
              </a:defRPr>
            </a:pPr>
            <a:r>
              <a:rPr dirty="0"/>
              <a:t>Pain</a:t>
            </a:r>
          </a:p>
          <a:p>
            <a:pPr>
              <a:spcAft>
                <a:spcPts val="600"/>
              </a:spcAft>
              <a:defRPr sz="1600" b="0">
                <a:solidFill>
                  <a:srgbClr val="636E72"/>
                </a:solidFill>
              </a:defRPr>
            </a:pPr>
            <a:r>
              <a:rPr sz="1600" dirty="0">
                <a:solidFill>
                  <a:srgbClr val="636E72"/>
                </a:solidFill>
              </a:rPr>
              <a:t>- Case comments are abbreviated (KYC, PEP, LTV, DTI, CBS) across </a:t>
            </a:r>
            <a:r>
              <a:rPr lang="en-US" sz="1600" dirty="0">
                <a:solidFill>
                  <a:srgbClr val="636E72"/>
                </a:solidFill>
              </a:rPr>
              <a:t>different</a:t>
            </a:r>
            <a:r>
              <a:rPr sz="1600" dirty="0">
                <a:solidFill>
                  <a:srgbClr val="636E72"/>
                </a:solidFill>
              </a:rPr>
              <a:t> stages.</a:t>
            </a:r>
          </a:p>
          <a:p>
            <a:pPr>
              <a:spcAft>
                <a:spcPts val="600"/>
              </a:spcAft>
              <a:defRPr sz="1600" b="0">
                <a:solidFill>
                  <a:srgbClr val="636E72"/>
                </a:solidFill>
              </a:defRPr>
            </a:pPr>
            <a:r>
              <a:rPr sz="1600" dirty="0">
                <a:solidFill>
                  <a:srgbClr val="636E72"/>
                </a:solidFill>
              </a:rPr>
              <a:t>- </a:t>
            </a:r>
            <a:r>
              <a:rPr lang="en-US" sz="1600" dirty="0">
                <a:solidFill>
                  <a:srgbClr val="636E72"/>
                </a:solidFill>
              </a:rPr>
              <a:t>Reviewing multiple cases manually might take considerably longer time.</a:t>
            </a:r>
          </a:p>
          <a:p>
            <a:pPr>
              <a:spcAft>
                <a:spcPts val="600"/>
              </a:spcAft>
              <a:defRPr sz="1600" b="0">
                <a:solidFill>
                  <a:srgbClr val="636E72"/>
                </a:solidFill>
              </a:defRPr>
            </a:pPr>
            <a:r>
              <a:rPr lang="en-US" sz="1600" dirty="0">
                <a:solidFill>
                  <a:srgbClr val="636E72"/>
                </a:solidFill>
              </a:rPr>
              <a:t>- Managers need open and stalled counts with average turnaround for a period.</a:t>
            </a:r>
          </a:p>
          <a:p>
            <a:pPr>
              <a:spcAft>
                <a:spcPts val="600"/>
              </a:spcAft>
              <a:defRPr sz="1600" b="0">
                <a:solidFill>
                  <a:srgbClr val="636E72"/>
                </a:solidFill>
              </a:defRPr>
            </a:pPr>
            <a:r>
              <a:rPr sz="1600" dirty="0">
                <a:solidFill>
                  <a:srgbClr val="636E72"/>
                </a:solidFill>
              </a:rPr>
              <a:t>- Auditors need trends and charts, not case-by-case reading.</a:t>
            </a:r>
          </a:p>
          <a:p>
            <a:pPr>
              <a:spcAft>
                <a:spcPts val="600"/>
              </a:spcAft>
              <a:defRPr sz="1800" b="1">
                <a:solidFill>
                  <a:srgbClr val="2D3436"/>
                </a:solidFill>
              </a:defRPr>
            </a:pPr>
            <a:r>
              <a:rPr dirty="0"/>
              <a:t>Success metrics</a:t>
            </a:r>
          </a:p>
          <a:p>
            <a:pPr>
              <a:spcAft>
                <a:spcPts val="600"/>
              </a:spcAft>
              <a:defRPr sz="1600" b="0">
                <a:solidFill>
                  <a:srgbClr val="636E72"/>
                </a:solidFill>
              </a:defRPr>
            </a:pPr>
            <a:r>
              <a:rPr dirty="0"/>
              <a:t>-</a:t>
            </a:r>
            <a:r>
              <a:rPr lang="en-US" dirty="0"/>
              <a:t> Review Time:</a:t>
            </a:r>
            <a:r>
              <a:rPr dirty="0"/>
              <a:t> </a:t>
            </a:r>
            <a:r>
              <a:rPr lang="en-US" dirty="0"/>
              <a:t>Considerably faster review time than manual assessment.</a:t>
            </a:r>
          </a:p>
          <a:p>
            <a:pPr>
              <a:spcAft>
                <a:spcPts val="600"/>
              </a:spcAft>
              <a:defRPr sz="1600" b="0">
                <a:solidFill>
                  <a:srgbClr val="636E72"/>
                </a:solidFill>
              </a:defRPr>
            </a:pPr>
            <a:r>
              <a:rPr dirty="0"/>
              <a:t>- Grounding: 100% of summary lines cite a source (5,808 of 5,808).</a:t>
            </a:r>
          </a:p>
          <a:p>
            <a:pPr>
              <a:spcAft>
                <a:spcPts val="600"/>
              </a:spcAft>
              <a:defRPr sz="1600" b="0">
                <a:solidFill>
                  <a:srgbClr val="636E72"/>
                </a:solidFill>
              </a:defRPr>
            </a:pPr>
            <a:r>
              <a:rPr dirty="0"/>
              <a:t>- Invented terms refused: 30 of 30. Raw client IDs in output: 0.</a:t>
            </a:r>
          </a:p>
          <a:p>
            <a:pPr>
              <a:spcAft>
                <a:spcPts val="600"/>
              </a:spcAft>
              <a:defRPr sz="1600" b="0">
                <a:solidFill>
                  <a:srgbClr val="636E72"/>
                </a:solidFill>
              </a:defRPr>
            </a:pPr>
            <a:r>
              <a:rPr dirty="0"/>
              <a:t>- p95 latency: 2.5 seconds per model call.</a:t>
            </a:r>
            <a:endParaRPr lang="en-US" dirty="0"/>
          </a:p>
          <a:p>
            <a:pPr>
              <a:spcAft>
                <a:spcPts val="600"/>
              </a:spcAft>
              <a:defRPr sz="1600" b="0">
                <a:solidFill>
                  <a:srgbClr val="636E72"/>
                </a:solidFill>
              </a:defRPr>
            </a:pPr>
            <a:r>
              <a:rPr lang="en-IN" b="1" dirty="0">
                <a:solidFill>
                  <a:srgbClr val="2D3436"/>
                </a:solidFill>
              </a:rPr>
              <a:t>GitHub Repo: </a:t>
            </a:r>
            <a:r>
              <a:rPr lang="en-US" sz="1600" dirty="0" err="1">
                <a:solidFill>
                  <a:srgbClr val="636E72"/>
                </a:solidFill>
                <a:hlinkClick r:id="rId2"/>
              </a:rPr>
              <a:t>NilkantaBhattacharjee</a:t>
            </a:r>
            <a:r>
              <a:rPr lang="en-US" sz="1600" dirty="0">
                <a:solidFill>
                  <a:srgbClr val="636E72"/>
                </a:solidFill>
                <a:hlinkClick r:id="rId2"/>
              </a:rPr>
              <a:t>/</a:t>
            </a:r>
            <a:r>
              <a:rPr lang="en-US" sz="1600" dirty="0" err="1">
                <a:solidFill>
                  <a:srgbClr val="636E72"/>
                </a:solidFill>
                <a:hlinkClick r:id="rId2"/>
              </a:rPr>
              <a:t>bams</a:t>
            </a:r>
            <a:r>
              <a:rPr lang="en-US" sz="1600" dirty="0">
                <a:solidFill>
                  <a:srgbClr val="636E72"/>
                </a:solidFill>
                <a:hlinkClick r:id="rId2"/>
              </a:rPr>
              <a:t>-hackathon-idea</a:t>
            </a:r>
            <a:endParaRPr b="1" dirty="0">
              <a:solidFill>
                <a:srgbClr val="2D343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811F5-6236-0662-6F2D-959721391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10AD0B-D719-C9B0-4FDE-916B8F6E1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59"/>
            <a:ext cx="12191999" cy="6840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591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dirty="0">
                <a:solidFill>
                  <a:srgbClr val="6C5CE7"/>
                </a:solidFill>
              </a:rPr>
              <a:t>						</a:t>
            </a:r>
            <a:r>
              <a:rPr sz="3000" b="1" dirty="0">
                <a:solidFill>
                  <a:srgbClr val="6C5CE7"/>
                </a:solidFill>
              </a:rPr>
              <a:t>Architecture</a:t>
            </a:r>
            <a:r>
              <a:rPr lang="en-US" sz="3000" b="1" dirty="0">
                <a:solidFill>
                  <a:srgbClr val="6C5CE7"/>
                </a:solidFill>
              </a:rPr>
              <a:t> Flow Diagram</a:t>
            </a:r>
            <a:endParaRPr sz="3000" b="1" dirty="0">
              <a:solidFill>
                <a:srgbClr val="6C5CE7"/>
              </a:solidFill>
            </a:endParaRP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15" y="1371600"/>
            <a:ext cx="1368724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dirty="0">
                <a:solidFill>
                  <a:srgbClr val="6C5CE7"/>
                </a:solidFill>
              </a:rPr>
              <a:t>                     </a:t>
            </a:r>
            <a:r>
              <a:rPr sz="3000" b="1" dirty="0">
                <a:solidFill>
                  <a:srgbClr val="6C5CE7"/>
                </a:solidFill>
              </a:rPr>
              <a:t>Evaluation Evidence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Grounding (cited summary lines)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95% or more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100% (5,808 of 5,808)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Invented terms refused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100% (30 of 30)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Raw client IDs in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p95 latency per model 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under 5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2.5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Live evaluation: summaries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10 of 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Live evaluation: chat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9 of 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Automated test suite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all 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150 of 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8521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36E72"/>
                </a:solidFill>
              </a:defRPr>
            </a:pPr>
            <a:r>
              <a:t>Failure cases fixed: a valid question refused as 'not in glossary'; a time-to-stage answer printing 'nan'. Open: retrieval not measured on real staff questions; feedback not scored.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dirty="0">
                <a:solidFill>
                  <a:srgbClr val="6C5CE7"/>
                </a:solidFill>
              </a:rPr>
              <a:t>                                  </a:t>
            </a:r>
            <a:r>
              <a:rPr sz="3000" b="1" dirty="0">
                <a:solidFill>
                  <a:srgbClr val="6C5CE7"/>
                </a:solidFill>
              </a:rPr>
              <a:t>Risk and Control Notes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40" cy="330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Control in 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Residual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Model invents a 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Glossary-only answers; 30-term refusal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Client data sent to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Masking before every call; personal-data questions refused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Prompt injection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Override-phrase scan; comments treated as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Low to 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Uncited claim reaches 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Citation check drops and counts uncited 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API key exposed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Key in local .env, never logged; key rotated 22 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Users over-trust answers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Decision-support label; thumbs up/down; human decides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8521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36E72"/>
                </a:solidFill>
              </a:defRPr>
            </a:pPr>
            <a:r>
              <a:t>Compliance: all data is synthetic. A real deployment needs a data-protection review, including lawful basis, log retention, and provider data terms.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dirty="0">
                <a:solidFill>
                  <a:srgbClr val="6C5CE7"/>
                </a:solidFill>
              </a:rPr>
              <a:t>                                 </a:t>
            </a:r>
            <a:r>
              <a:rPr sz="3000" b="1" dirty="0">
                <a:solidFill>
                  <a:srgbClr val="6C5CE7"/>
                </a:solidFill>
              </a:rPr>
              <a:t>Cost Estimate and Scalability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7902681"/>
              </p:ext>
            </p:extLst>
          </p:nvPr>
        </p:nvGraphicFramePr>
        <p:xfrm>
          <a:off x="548640" y="1463040"/>
          <a:ext cx="11064240" cy="298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rPr dirty="0"/>
                        <a:t>Estimate</a:t>
                      </a:r>
                      <a:r>
                        <a:rPr lang="en-US" dirty="0"/>
                        <a:t> (As per the prototype built)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openai/gpt-4o-mini via OpenRouter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Price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$0.15 per M input, $0.60 per M output (blended $0.000375 per 1K tokens)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Tokens per 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about 1,400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Cost per 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about $0.0005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Cost per 1,000 summaries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about $0.53 (model only)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Infrastructure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rPr dirty="0"/>
                        <a:t>Not yet estimated (prototype runs locally)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8521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36E72"/>
                </a:solidFill>
              </a:defRPr>
            </a:pPr>
            <a:r>
              <a:t>Scaling: cost grows with summaries requested, not cases stored. Summary cache removes repeat cost. Data moves to the bank's BPM database via read-only connection. Prices must be re-checked before 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465</TotalTime>
  <Words>491</Words>
  <Application>Microsoft Office PowerPoint</Application>
  <PresentationFormat>Widescreen</PresentationFormat>
  <Paragraphs>80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                BAMS Hackathon              CaseLens: Persona, Pain and Success Metrics</vt:lpstr>
      <vt:lpstr>PowerPoint Presentation</vt:lpstr>
      <vt:lpstr>      Architecture Flow Diagram</vt:lpstr>
      <vt:lpstr>                     Evaluation Evidence</vt:lpstr>
      <vt:lpstr>                                  Risk and Control Notes</vt:lpstr>
      <vt:lpstr>                                 Cost Estimate and Scalability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Bhattacharjee, Nilkanta</cp:lastModifiedBy>
  <cp:revision>1</cp:revision>
  <dcterms:created xsi:type="dcterms:W3CDTF">2013-01-27T09:14:16Z</dcterms:created>
  <dcterms:modified xsi:type="dcterms:W3CDTF">2026-10-23T16:31:15Z</dcterms:modified>
  <cp:category/>
</cp:coreProperties>
</file>